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967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MONA LISA  •  HISTORY PROJECT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60920" y="6519672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B8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Public-domain artwork imagery •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263B31">
              <a:alpha val="98000"/>
            </a:srgbClr>
          </a:solidFill>
          <a:ln w="12700">
            <a:solidFill>
              <a:srgbClr val="263B31"/>
            </a:solidFill>
            <a:prstDash val="solid"/>
          </a:ln>
        </p:spPr>
      </p:sp>
      <p:pic>
        <p:nvPicPr>
          <p:cNvPr id="3" name="Image 0" descr="artifacts/ppt-assets/mona-l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0"/>
            <a:ext cx="4489704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583680" y="0"/>
            <a:ext cx="1828800" cy="6858000"/>
          </a:xfrm>
          <a:prstGeom prst="rect">
            <a:avLst/>
          </a:prstGeom>
          <a:solidFill>
            <a:srgbClr val="263B31">
              <a:alpha val="82000"/>
            </a:srgbClr>
          </a:solidFill>
          <a:ln w="12700">
            <a:solidFill>
              <a:srgbClr val="263B31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713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B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PROJECT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41732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 LISA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694944" y="2286000"/>
            <a:ext cx="6126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DF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PAINTING THAT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E8DF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BECAME A MYSTERY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94944" y="3767328"/>
            <a:ext cx="1234440" cy="0"/>
          </a:xfrm>
          <a:prstGeom prst="line">
            <a:avLst/>
          </a:prstGeom>
          <a:noFill/>
          <a:ln w="38100">
            <a:solidFill>
              <a:srgbClr val="B48A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4005072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da Vinci • c. 1503–1519 • Louvre Museum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4944" y="4645152"/>
            <a:ext cx="571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portrait, a theft, and a smile that still keeps us guessing.</a:t>
            </a:r>
            <a:endParaRPr lang="en-US" sz="1800" dirty="0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• ROADMAP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one portrait unforgettable?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Eleven questions guide our investigation.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77240" y="1901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62456" y="18928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95144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78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62456" y="25694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da Vinci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971800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552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62456" y="3246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real Mona Lisa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3648456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31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62456" y="39227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paint her?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4325112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6085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62456" y="45994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long did it take?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77240" y="5001768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62456" y="5276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1911 theft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5678424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901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94576" y="18928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mysterious smile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09360" y="2295144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578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94576" y="25694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is it famous?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09360" y="2971800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2552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94576" y="3246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Interesting facts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09360" y="3648456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931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94576" y="39227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09360" y="4325112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6085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94576" y="45994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309360" y="5001768"/>
            <a:ext cx="4709160" cy="0"/>
          </a:xfrm>
          <a:prstGeom prst="line">
            <a:avLst/>
          </a:prstGeom>
          <a:noFill/>
          <a:ln w="10160">
            <a:solidFill>
              <a:srgbClr val="DED6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•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quiet portrait with a global audience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in size, immense in cultural influence.</a:t>
            </a:r>
            <a:endParaRPr lang="en-US" sz="1250" dirty="0"/>
          </a:p>
        </p:txBody>
      </p:sp>
      <p:pic>
        <p:nvPicPr>
          <p:cNvPr id="5" name="Image 0" descr="artifacts/ppt-assets/mona-l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847088"/>
            <a:ext cx="288036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069080" y="1993392"/>
            <a:ext cx="54864" cy="987552"/>
          </a:xfrm>
          <a:prstGeom prst="rect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97680" y="2020824"/>
            <a:ext cx="6720840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seated woman. Folded hands. A distant landscape. One almost-smile.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096512" y="340156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261104" y="354787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736592" y="353872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Artist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261104" y="396849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da Vinci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Italian Renaissance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340156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9672" y="354787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995160" y="353872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19672" y="396849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 paint on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poplar wood panel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13648" y="340156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354787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253728" y="353872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778240" y="396849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Louvre Museum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Paris, France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92040" y="5596128"/>
            <a:ext cx="2286000" cy="329184"/>
          </a:xfrm>
          <a:prstGeom prst="rect">
            <a:avLst/>
          </a:prstGeom>
          <a:solidFill>
            <a:srgbClr val="263B31"/>
          </a:solidFill>
          <a:ln>
            <a:solidFill>
              <a:srgbClr val="263B31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Painted c. 1503–1519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452360" y="5596128"/>
            <a:ext cx="2423160" cy="329184"/>
          </a:xfrm>
          <a:prstGeom prst="rect">
            <a:avLst/>
          </a:prstGeom>
          <a:solidFill>
            <a:srgbClr val="8D493A"/>
          </a:solidFill>
          <a:ln>
            <a:solidFill>
              <a:srgbClr val="8D493A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Renaissance masterpiece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• THE ARTIST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Leonardo da Vinci: artist and investigator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 study of nature, anatomy, light, and shadow made his paintings feel alive.</a:t>
            </a:r>
            <a:endParaRPr lang="en-US" sz="1250" dirty="0"/>
          </a:p>
        </p:txBody>
      </p:sp>
      <p:pic>
        <p:nvPicPr>
          <p:cNvPr id="5" name="Image 0" descr="artifacts/ppt-assets/leonar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92608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847088"/>
            <a:ext cx="7040880" cy="1005840"/>
          </a:xfrm>
          <a:prstGeom prst="roundRect">
            <a:avLst/>
          </a:prstGeom>
          <a:solidFill>
            <a:srgbClr val="263B31"/>
          </a:solidFill>
          <a:ln w="12700">
            <a:solidFill>
              <a:srgbClr val="263B3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389120" y="20756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1452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532120" y="21122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Born near Vinci, Italy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0" y="321868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79392" y="336499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754880" y="335584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PAINTER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79392" y="378561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Mona Lisa • The Last Supper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73952" y="321868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38544" y="336499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14032" y="335584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SCIENTIST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638544" y="378561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Anatomy • optics • nature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33104" y="3218688"/>
            <a:ext cx="2057400" cy="1627632"/>
          </a:xfrm>
          <a:prstGeom prst="roundRect">
            <a:avLst>
              <a:gd name="adj" fmla="val 4494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97696" y="336499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473184" y="3355848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997696" y="3785616"/>
            <a:ext cx="1728216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Machines • flight • engineering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187952" y="548640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1519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166360" y="5504688"/>
            <a:ext cx="5806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Died in France, leaving notebooks and artworks that still inspire discovery.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• THE SITTER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the real Mona Lisa?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historians identify her as Lisa Gherardini of Florence.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3246120" cy="3246120"/>
          </a:xfrm>
          <a:prstGeom prst="ellipse">
            <a:avLst/>
          </a:prstGeom>
          <a:solidFill>
            <a:srgbClr val="E8E1D2"/>
          </a:solidFill>
          <a:ln w="25400">
            <a:solidFill>
              <a:srgbClr val="B48A42"/>
            </a:solidFill>
            <a:prstDash val="solid"/>
          </a:ln>
        </p:spPr>
      </p:sp>
      <p:pic>
        <p:nvPicPr>
          <p:cNvPr id="6" name="Image 0" descr="artifacts/ppt-assets/mona-l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901952"/>
            <a:ext cx="2496312" cy="37216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929384"/>
            <a:ext cx="237744" cy="237744"/>
          </a:xfrm>
          <a:prstGeom prst="ellipse">
            <a:avLst/>
          </a:prstGeom>
          <a:solidFill>
            <a:srgbClr val="8D493A"/>
          </a:solidFill>
          <a:ln w="12700">
            <a:solidFill>
              <a:srgbClr val="8D49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74920" y="18745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43800" y="18928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Born in Florence, Italy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2468880"/>
            <a:ext cx="6400800" cy="0"/>
          </a:xfrm>
          <a:prstGeom prst="line">
            <a:avLst/>
          </a:prstGeom>
          <a:noFill/>
          <a:ln w="10160">
            <a:solidFill>
              <a:srgbClr val="DCD4C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63440" y="2898648"/>
            <a:ext cx="237744" cy="237744"/>
          </a:xfrm>
          <a:prstGeom prst="ellipse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74920" y="28437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Lisa Gherardini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43800" y="286207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widely accepted identity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3438144"/>
            <a:ext cx="6400800" cy="0"/>
          </a:xfrm>
          <a:prstGeom prst="line">
            <a:avLst/>
          </a:prstGeom>
          <a:noFill/>
          <a:ln w="10160">
            <a:solidFill>
              <a:srgbClr val="DCD4C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3867912"/>
            <a:ext cx="237744" cy="237744"/>
          </a:xfrm>
          <a:prstGeom prst="ellipse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74920" y="3813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Francesco del Giocondo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543800" y="383133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 husband, a wealthy silk merchant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63440" y="4407408"/>
            <a:ext cx="6400800" cy="0"/>
          </a:xfrm>
          <a:prstGeom prst="line">
            <a:avLst/>
          </a:prstGeom>
          <a:noFill/>
          <a:ln w="10160">
            <a:solidFill>
              <a:srgbClr val="DCD4C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63440" y="4837176"/>
            <a:ext cx="237744" cy="237744"/>
          </a:xfrm>
          <a:prstGeom prst="ellipse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74920" y="47823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Gioconda / La Joconde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543800" y="48006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painting’s Italian / French names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63440" y="5641848"/>
            <a:ext cx="54864" cy="512064"/>
          </a:xfrm>
          <a:prstGeom prst="rect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92040" y="5669280"/>
            <a:ext cx="59893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identity is likely known; her inner thoughts remain a mystery.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• THE COMMISSION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did Leonardo paint her?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private family portrait became a universal image.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545336" y="1993392"/>
            <a:ext cx="640080" cy="640080"/>
          </a:xfrm>
          <a:prstGeom prst="ellipse">
            <a:avLst/>
          </a:prstGeom>
          <a:solidFill>
            <a:srgbClr val="B48A42"/>
          </a:solidFill>
          <a:ln>
            <a:solidFill>
              <a:srgbClr val="B48A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017520" y="2167128"/>
            <a:ext cx="384048" cy="283464"/>
          </a:xfrm>
          <a:prstGeom prst="chevron">
            <a:avLst/>
          </a:prstGeom>
          <a:solidFill>
            <a:srgbClr val="CDC4B4"/>
          </a:solidFill>
          <a:ln w="12700">
            <a:solidFill>
              <a:srgbClr val="CDC4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COMMISSION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24028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Francesco del Giocondo likely requested a portrait of his wife.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61688" y="1993392"/>
            <a:ext cx="640080" cy="640080"/>
          </a:xfrm>
          <a:prstGeom prst="ellipse">
            <a:avLst/>
          </a:prstGeom>
          <a:solidFill>
            <a:srgbClr val="819276"/>
          </a:solidFill>
          <a:ln>
            <a:solidFill>
              <a:srgbClr val="8192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5833872" y="2167128"/>
            <a:ext cx="384048" cy="283464"/>
          </a:xfrm>
          <a:prstGeom prst="chevron">
            <a:avLst/>
          </a:prstGeom>
          <a:solidFill>
            <a:srgbClr val="CDC4B4"/>
          </a:solidFill>
          <a:ln w="12700">
            <a:solidFill>
              <a:srgbClr val="CDC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3474720"/>
            <a:ext cx="224028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Portraits preserved family memory and reflected social standing.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178040" y="1993392"/>
            <a:ext cx="640080" cy="640080"/>
          </a:xfrm>
          <a:prstGeom prst="ellipse">
            <a:avLst/>
          </a:prstGeom>
          <a:solidFill>
            <a:srgbClr val="8D493A"/>
          </a:solidFill>
          <a:ln>
            <a:solidFill>
              <a:srgbClr val="8D49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8650224" y="2167128"/>
            <a:ext cx="384048" cy="283464"/>
          </a:xfrm>
          <a:prstGeom prst="chevron">
            <a:avLst/>
          </a:prstGeom>
          <a:solidFill>
            <a:srgbClr val="CDC4B4"/>
          </a:solidFill>
          <a:ln w="12700">
            <a:solidFill>
              <a:srgbClr val="CDC4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3474720"/>
            <a:ext cx="224028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aimed to capture natural expression—not just appearance.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994392" y="1993392"/>
            <a:ext cx="640080" cy="640080"/>
          </a:xfrm>
          <a:prstGeom prst="ellipse">
            <a:avLst/>
          </a:prstGeom>
          <a:solidFill>
            <a:srgbClr val="263B31"/>
          </a:solidFill>
          <a:ln>
            <a:solidFill>
              <a:srgbClr val="263B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198864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98864" y="3474720"/>
            <a:ext cx="224028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Light, shadow, colour, and observation created a lifelike presence.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965960" y="5321808"/>
            <a:ext cx="54864" cy="658368"/>
          </a:xfrm>
          <a:prstGeom prst="rect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94560" y="5349240"/>
            <a:ext cx="800100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exact reason—and every artistic choice—cannot be proved with certainty.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• TIME &amp; TECHNIQUE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masterpiece refined across years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worked intermittently, revisiting details rather than painting continuously.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32688" y="2743200"/>
            <a:ext cx="10012680" cy="0"/>
          </a:xfrm>
          <a:prstGeom prst="line">
            <a:avLst/>
          </a:prstGeom>
          <a:noFill/>
          <a:ln w="38100">
            <a:solidFill>
              <a:srgbClr val="B48A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87752"/>
            <a:ext cx="310896" cy="310896"/>
          </a:xfrm>
          <a:prstGeom prst="ellipse">
            <a:avLst/>
          </a:prstGeom>
          <a:solidFill>
            <a:srgbClr val="263B31"/>
          </a:solidFill>
          <a:ln w="25400">
            <a:solidFill>
              <a:srgbClr val="F5F0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057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3063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begins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60520" y="2587752"/>
            <a:ext cx="310896" cy="310896"/>
          </a:xfrm>
          <a:prstGeom prst="ellipse">
            <a:avLst/>
          </a:prstGeom>
          <a:solidFill>
            <a:srgbClr val="263B31"/>
          </a:solidFill>
          <a:ln w="25400">
            <a:solidFill>
              <a:srgbClr val="F5F0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3088" y="2057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1506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33088" y="3063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Major portrait forms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0" y="2587752"/>
            <a:ext cx="310896" cy="310896"/>
          </a:xfrm>
          <a:prstGeom prst="ellipse">
            <a:avLst/>
          </a:prstGeom>
          <a:solidFill>
            <a:srgbClr val="263B31"/>
          </a:solidFill>
          <a:ln w="25400">
            <a:solidFill>
              <a:srgbClr val="F5F0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0648" y="2057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70648" y="3063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in Leonardo’s care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835640" y="2587752"/>
            <a:ext cx="310896" cy="310896"/>
          </a:xfrm>
          <a:prstGeom prst="ellipse">
            <a:avLst/>
          </a:prstGeom>
          <a:solidFill>
            <a:srgbClr val="8D493A"/>
          </a:solidFill>
          <a:ln w="25400">
            <a:solidFill>
              <a:srgbClr val="F5F0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08208" y="2057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1519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08208" y="3063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Possible final refinements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0120" y="4315968"/>
            <a:ext cx="10195560" cy="1225296"/>
          </a:xfrm>
          <a:prstGeom prst="roundRect">
            <a:avLst/>
          </a:prstGeom>
          <a:solidFill>
            <a:srgbClr val="263B31"/>
          </a:solidFill>
          <a:ln w="12700">
            <a:solidFill>
              <a:srgbClr val="263B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460857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SFUMATO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246120" y="4562856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4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Soft, smoky transitions between colours and shadows—without harsh outlines—make the face feel alive.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• THE THEFT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the Mona Lisa disappeared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two-year mystery transformed an admired painting into worldwide news.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9808" y="1993392"/>
            <a:ext cx="2331720" cy="2880360"/>
          </a:xfrm>
          <a:prstGeom prst="roundRect">
            <a:avLst/>
          </a:prstGeom>
          <a:solidFill>
            <a:srgbClr val="8D493A"/>
          </a:solidFill>
          <a:ln w="12700">
            <a:solidFill>
              <a:srgbClr val="8D4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0DD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AUG 1911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7980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STOLEN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456432"/>
            <a:ext cx="1938528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EF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Former Louvre worker Vincenzo Peruggia removes the painting.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66160" y="1993392"/>
            <a:ext cx="2331720" cy="288036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7CE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1911–1913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27980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3456432"/>
            <a:ext cx="1938528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 keeps it concealed for more than two years.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82512" y="1993392"/>
            <a:ext cx="2331720" cy="288036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7CE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 1913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27980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65392" y="3456432"/>
            <a:ext cx="1938528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 approaches an art dealer in Florence.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98864" y="1993392"/>
            <a:ext cx="2331720" cy="288036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7CE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81744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81744" y="27980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RECOVERED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81744" y="3456432"/>
            <a:ext cx="1938528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Authorities recover the work; Peruggia is arrested.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188720" y="5358384"/>
            <a:ext cx="54864" cy="585216"/>
          </a:xfrm>
          <a:prstGeom prst="rect">
            <a:avLst/>
          </a:prstGeom>
          <a:solidFill>
            <a:srgbClr val="B48A42"/>
          </a:solidFill>
          <a:ln w="12700">
            <a:solidFill>
              <a:srgbClr val="B48A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385816"/>
            <a:ext cx="92354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theft did not create the masterpiece—but it created a media phenomenon.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• THE SMILE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her expression seem to change?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eyes, Leonardo’s technique, and our own interpretation all play a part.</a:t>
            </a:r>
            <a:endParaRPr lang="en-US" sz="1250" dirty="0"/>
          </a:p>
        </p:txBody>
      </p:sp>
      <p:pic>
        <p:nvPicPr>
          <p:cNvPr id="5" name="Image 0" descr="artifacts/ppt-assets/mona-l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92224"/>
            <a:ext cx="3657600" cy="43159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892040" y="1901952"/>
            <a:ext cx="6172200" cy="950976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166360" y="21488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760720" y="20391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 EDGES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406640" y="2020824"/>
            <a:ext cx="3383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Sfumato blurs transitions around the mouth and cheeks.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92040" y="3154680"/>
            <a:ext cx="6172200" cy="950976"/>
          </a:xfrm>
          <a:prstGeom prst="roundRect">
            <a:avLst/>
          </a:prstGeom>
          <a:solidFill>
            <a:srgbClr val="E7EBDD"/>
          </a:solidFill>
          <a:ln w="12700">
            <a:solidFill>
              <a:srgbClr val="81927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66360" y="34015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76072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PERIPHERAL VISION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06640" y="3273552"/>
            <a:ext cx="3383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smile can seem stronger when we look slightly away.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92040" y="4407408"/>
            <a:ext cx="6172200" cy="950976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465429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76072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06640" y="4526280"/>
            <a:ext cx="3383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Viewers read happiness, seriousness, or thoughtfulness.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19472" y="57150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confirmed explanation tells us what Lisa was thinking.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• FAME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reasons the Mona Lisa became an icon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Artistry, mystery, history, and mass attention reinforced one another.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20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201168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2441448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celebrated Renaissance genius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02152" y="1874520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020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42232" y="201168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SMILE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6744" y="2441448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expression without one answer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18504" y="1874520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2020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58584" y="201168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83096" y="2441448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Subtle light, shadow, and sfumato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34856" y="1874520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9448" y="20208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774936" y="201168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THEFT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99448" y="2441448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Worldwide headlines after 1911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057400" y="3950208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1992" y="409651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97480" y="4087368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21992" y="4517136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key example of Renaissance portraiture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73752" y="3950208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8344" y="409651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13832" y="4087368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LOUVRE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38344" y="4517136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Seen by millions of visitors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90104" y="3950208"/>
            <a:ext cx="2331720" cy="1572768"/>
          </a:xfrm>
          <a:prstGeom prst="roundRect">
            <a:avLst>
              <a:gd name="adj" fmla="val 4651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54696" y="409651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330184" y="4087368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POPULAR CULTURE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854696" y="4517136"/>
            <a:ext cx="2002536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Reproduced, parodied, and discussed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• QUICK FACTS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details worth remembering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rapid review before the conclusion.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2377440" cy="16916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4767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WOOD, NOT CANVAS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27889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Painted on a poplar panel.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93008" y="1783080"/>
            <a:ext cx="2377440" cy="1691640"/>
          </a:xfrm>
          <a:prstGeom prst="roundRect">
            <a:avLst/>
          </a:prstGeom>
          <a:solidFill>
            <a:srgbClr val="E9EDE3"/>
          </a:solidFill>
          <a:ln w="12700">
            <a:solidFill>
              <a:srgbClr val="8192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194767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75888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LISA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75888" y="27889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scholars identify Lisa Gherardini.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27648" y="1783080"/>
            <a:ext cx="2377440" cy="16916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10528" y="194767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BEGAN c. 1503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10528" y="27889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revisited it over many years.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62288" y="1783080"/>
            <a:ext cx="2377440" cy="1691640"/>
          </a:xfrm>
          <a:prstGeom prst="roundRect">
            <a:avLst/>
          </a:prstGeom>
          <a:solidFill>
            <a:srgbClr val="E9EDE3"/>
          </a:solidFill>
          <a:ln w="12700">
            <a:solidFill>
              <a:srgbClr val="81927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45168" y="194767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45168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STOLEN IN 1911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45168" y="27889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for more than two years.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8368" y="3931920"/>
            <a:ext cx="2377440" cy="16916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09651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5445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LIVES IN PARIS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" y="4937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Displayed at the Louvre Museum.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2377440" cy="1691640"/>
          </a:xfrm>
          <a:prstGeom prst="roundRect">
            <a:avLst/>
          </a:prstGeom>
          <a:solidFill>
            <a:srgbClr val="E9EDE3"/>
          </a:solidFill>
          <a:ln w="12700">
            <a:solidFill>
              <a:srgbClr val="81927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409651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675888" y="45445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SFUMATO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75888" y="4937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 transitions create lifelike depth.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27648" y="3931920"/>
            <a:ext cx="2377440" cy="16916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0528" y="409651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510528" y="45445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500+ YEARS OLD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10528" y="4937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survivor of centuries of change.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62288" y="3931920"/>
            <a:ext cx="2377440" cy="1691640"/>
          </a:xfrm>
          <a:prstGeom prst="roundRect">
            <a:avLst/>
          </a:prstGeom>
          <a:solidFill>
            <a:srgbClr val="E9EDE3"/>
          </a:solidFill>
          <a:ln w="12700">
            <a:solidFill>
              <a:srgbClr val="81927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45168" y="4096512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345168" y="45445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345168" y="4937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Kept behind climate-controlled glass.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48A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• REFLECTION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29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taught me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Researching one artwork revealed connections between art, science, history, and preservation.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9808" y="1847088"/>
            <a:ext cx="4983480" cy="1261872"/>
          </a:xfrm>
          <a:prstGeom prst="roundRect">
            <a:avLst>
              <a:gd name="adj" fmla="val 5797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9339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A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1984248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414016"/>
            <a:ext cx="46542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Lisa Gherardini is the most likely sitter.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81928" y="1847088"/>
            <a:ext cx="4983480" cy="1261872"/>
          </a:xfrm>
          <a:prstGeom prst="roundRect">
            <a:avLst>
              <a:gd name="adj" fmla="val 5797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99339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9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22008" y="1984248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46520" y="2414016"/>
            <a:ext cx="46542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Leonardo refined the portrait over many years.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" y="3419856"/>
            <a:ext cx="4983480" cy="1261872"/>
          </a:xfrm>
          <a:prstGeom prst="roundRect">
            <a:avLst>
              <a:gd name="adj" fmla="val 5797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56616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4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89888" y="3557016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SURPRISE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986784"/>
            <a:ext cx="46542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1911 theft dramatically increased public attention.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81928" y="3419856"/>
            <a:ext cx="4983480" cy="1261872"/>
          </a:xfrm>
          <a:prstGeom prst="roundRect">
            <a:avLst>
              <a:gd name="adj" fmla="val 5797"/>
            </a:avLst>
          </a:prstGeom>
          <a:solidFill>
            <a:srgbClr val="FFFDF8"/>
          </a:solidFill>
          <a:ln w="12700">
            <a:solidFill>
              <a:srgbClr val="D9D0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56616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22008" y="3557016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3986784"/>
            <a:ext cx="46542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Light, shadow, and sfumato shape what we perceive.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417320" y="5166360"/>
            <a:ext cx="9372600" cy="749808"/>
          </a:xfrm>
          <a:prstGeom prst="roundRect">
            <a:avLst/>
          </a:prstGeom>
          <a:solidFill>
            <a:srgbClr val="263B31"/>
          </a:solidFill>
          <a:ln w="12700">
            <a:solidFill>
              <a:srgbClr val="263B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55648" y="540410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artworks connect us with the past—protecting them protects shared human memory.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9224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A6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3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ifacts/ppt-assets/mona-l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12280" y="0"/>
            <a:ext cx="1920240" cy="6858000"/>
          </a:xfrm>
          <a:prstGeom prst="rect">
            <a:avLst/>
          </a:prstGeom>
          <a:solidFill>
            <a:srgbClr val="263B31">
              <a:alpha val="88000"/>
            </a:srgbClr>
          </a:solidFill>
          <a:ln w="12700">
            <a:solidFill>
              <a:srgbClr val="263B31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749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D4B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94944" y="1389888"/>
            <a:ext cx="6812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than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famous painting.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3090672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ED8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Mona Lisa unites artistic skill, Renaissance curiosity, human mystery, and an extraordinary history.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31520" y="4343400"/>
            <a:ext cx="1188720" cy="0"/>
          </a:xfrm>
          <a:prstGeom prst="line">
            <a:avLst/>
          </a:prstGeom>
          <a:noFill/>
          <a:ln w="38100">
            <a:solidFill>
              <a:srgbClr val="B48A4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464515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centuries later, her gaze still asks us to look again.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152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B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100" dirty="0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School History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Mona Lisa — The Painting That Became a Mystery</dc:title>
  <dc:subject>Mona Lisa — The Painting That Became a Mystery</dc:subject>
  <dc:creator>History Project</dc:creator>
  <cp:lastModifiedBy>History Project</cp:lastModifiedBy>
  <cp:revision>1</cp:revision>
  <dcterms:created xsi:type="dcterms:W3CDTF">2026-10-24T18:12:48Z</dcterms:created>
  <dcterms:modified xsi:type="dcterms:W3CDTF">2026-10-24T18:12:48Z</dcterms:modified>
</cp:coreProperties>
</file>